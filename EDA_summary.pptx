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3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79911-2CFA-4F6A-AFB2-E9978DFCFCB3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CEB19-5479-4854-833C-A7E6B7A6C2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42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Compare home and away goals separately. line plot shot counts over the years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foul counts, yellow red cards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CEB19-5479-4854-833C-A7E6B7A6C2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2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CEB19-5479-4854-833C-A7E6B7A6C2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08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illustrations/merci-note-merci-noter-message-1428147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EDA - Top 5 European Leagues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Ali Ta</a:t>
            </a:r>
            <a:r>
              <a:rPr lang="tr-TR" sz="2800" dirty="0"/>
              <a:t>şbaş</a:t>
            </a:r>
            <a:endParaRPr sz="2800" dirty="0"/>
          </a:p>
          <a:p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756D63F-6387-D05D-BF2C-E1BCE5E58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" y="852487"/>
            <a:ext cx="8896350" cy="58197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3D331AA-321F-9D4D-2997-9A84F9497546}"/>
              </a:ext>
            </a:extLst>
          </p:cNvPr>
          <p:cNvSpPr txBox="1"/>
          <p:nvPr/>
        </p:nvSpPr>
        <p:spPr>
          <a:xfrm>
            <a:off x="581025" y="3009901"/>
            <a:ext cx="6486525" cy="10772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Are there less goals conceded in the Spanish League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212FD0-9408-C948-5A5A-B32E8B407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0791"/>
            <a:ext cx="9144000" cy="3412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9C6B86-E8F4-99AB-5699-2914B851C08A}"/>
              </a:ext>
            </a:extLst>
          </p:cNvPr>
          <p:cNvSpPr txBox="1"/>
          <p:nvPr/>
        </p:nvSpPr>
        <p:spPr>
          <a:xfrm>
            <a:off x="981075" y="1558382"/>
            <a:ext cx="1257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Away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89CB3F-BBB3-0082-201C-074C9919E214}"/>
              </a:ext>
            </a:extLst>
          </p:cNvPr>
          <p:cNvSpPr txBox="1"/>
          <p:nvPr/>
        </p:nvSpPr>
        <p:spPr>
          <a:xfrm>
            <a:off x="5095875" y="1558381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1E5DE-21A9-DE6B-4A90-317B7F6B143E}"/>
              </a:ext>
            </a:extLst>
          </p:cNvPr>
          <p:cNvSpPr txBox="1"/>
          <p:nvPr/>
        </p:nvSpPr>
        <p:spPr>
          <a:xfrm>
            <a:off x="1352551" y="2799458"/>
            <a:ext cx="6057900" cy="10772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Is the home turf advantage greater in the Spanish League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8452002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544" y="176162"/>
            <a:ext cx="5741571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dirty="0"/>
              <a:t>La Liga and the Rest of the World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61537D-56F1-E4EA-C7D3-CB16276DD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3050708"/>
            <a:ext cx="3362632" cy="19388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970425-BF96-6DB5-B10F-B02EEF352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117" y="3100292"/>
            <a:ext cx="3362632" cy="1839646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0316" y="6277971"/>
            <a:ext cx="5163684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5D912A-438F-DAA5-2D4C-7C7111DCF6A8}"/>
              </a:ext>
            </a:extLst>
          </p:cNvPr>
          <p:cNvSpPr txBox="1"/>
          <p:nvPr/>
        </p:nvSpPr>
        <p:spPr>
          <a:xfrm>
            <a:off x="3867325" y="1747032"/>
            <a:ext cx="21720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6C4585-AA13-DBCF-4FE9-F56060771BBF}"/>
              </a:ext>
            </a:extLst>
          </p:cNvPr>
          <p:cNvSpPr txBox="1"/>
          <p:nvPr/>
        </p:nvSpPr>
        <p:spPr>
          <a:xfrm>
            <a:off x="1562100" y="5040868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La-Liga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1B1256-AEFB-E1D5-C126-8E06E51E84E2}"/>
              </a:ext>
            </a:extLst>
          </p:cNvPr>
          <p:cNvSpPr txBox="1"/>
          <p:nvPr/>
        </p:nvSpPr>
        <p:spPr>
          <a:xfrm>
            <a:off x="5186844" y="5040868"/>
            <a:ext cx="170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Possession Diff</a:t>
            </a:r>
            <a:endParaRPr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A69EE9-C2E5-A7D3-C73C-C106D150D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638"/>
            <a:ext cx="6896100" cy="5057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6988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Shots</a:t>
            </a:r>
            <a:endParaRPr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E3F09A-D1E3-59E9-928E-209454F82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7901" y="1257300"/>
            <a:ext cx="6928197" cy="510601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30EDEF-8421-C5B6-CFE1-2937BE75F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58" y="1257300"/>
            <a:ext cx="7025640" cy="51060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F9609E-4788-DFBE-D54B-72CDDF06B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56" y="1083468"/>
            <a:ext cx="7391844" cy="54536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820710"/>
          </a:xfrm>
        </p:spPr>
        <p:txBody>
          <a:bodyPr anchor="b">
            <a:normAutofit/>
          </a:bodyPr>
          <a:lstStyle/>
          <a:p>
            <a:r>
              <a:rPr lang="en-US" sz="4000" dirty="0"/>
              <a:t>Home Goals per Game ~ Formation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1D0761-C109-F4B1-BBC1-AD0D232ED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6816673"/>
              </p:ext>
            </p:extLst>
          </p:nvPr>
        </p:nvGraphicFramePr>
        <p:xfrm>
          <a:off x="628650" y="2210550"/>
          <a:ext cx="7886700" cy="3788964"/>
        </p:xfrm>
        <a:graphic>
          <a:graphicData uri="http://schemas.openxmlformats.org/drawingml/2006/table">
            <a:tbl>
              <a:tblPr/>
              <a:tblGrid>
                <a:gridCol w="2145858">
                  <a:extLst>
                    <a:ext uri="{9D8B030D-6E8A-4147-A177-3AD203B41FA5}">
                      <a16:colId xmlns:a16="http://schemas.microsoft.com/office/drawing/2014/main" val="1478415360"/>
                    </a:ext>
                  </a:extLst>
                </a:gridCol>
                <a:gridCol w="2870421">
                  <a:extLst>
                    <a:ext uri="{9D8B030D-6E8A-4147-A177-3AD203B41FA5}">
                      <a16:colId xmlns:a16="http://schemas.microsoft.com/office/drawing/2014/main" val="590026970"/>
                    </a:ext>
                  </a:extLst>
                </a:gridCol>
                <a:gridCol w="2870421">
                  <a:extLst>
                    <a:ext uri="{9D8B030D-6E8A-4147-A177-3AD203B41FA5}">
                      <a16:colId xmlns:a16="http://schemas.microsoft.com/office/drawing/2014/main" val="3940293792"/>
                    </a:ext>
                  </a:extLst>
                </a:gridCol>
              </a:tblGrid>
              <a:tr h="42099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laliga_home_goals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rest_home_goals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182054"/>
                  </a:ext>
                </a:extLst>
              </a:tr>
              <a:tr h="420996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formation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09797"/>
                  </a:ext>
                </a:extLst>
              </a:tr>
              <a:tr h="4209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(4-4-2)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1.346290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1.418502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957155"/>
                  </a:ext>
                </a:extLst>
              </a:tr>
              <a:tr h="4209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(4-2-3-1)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 dirty="0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1.401914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1.679058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021122"/>
                  </a:ext>
                </a:extLst>
              </a:tr>
              <a:tr h="4209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(4-3-3)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1.710227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1.718802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48439"/>
                  </a:ext>
                </a:extLst>
              </a:tr>
              <a:tr h="4209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(4-1-4-1)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1.389831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0.000000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484231"/>
                  </a:ext>
                </a:extLst>
              </a:tr>
              <a:tr h="4209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(5-3-2)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1.362745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0.000000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68232"/>
                  </a:ext>
                </a:extLst>
              </a:tr>
              <a:tr h="4209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(3-4-3)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0.000000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1.553229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688286"/>
                  </a:ext>
                </a:extLst>
              </a:tr>
              <a:tr h="4209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(3-5-2)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0.000000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900" b="0" i="0" u="none" strike="noStrike" dirty="0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1.457847</a:t>
                      </a:r>
                    </a:p>
                  </a:txBody>
                  <a:tcPr marL="95681" marR="95681" marT="47840" marB="47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9474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A54C8E4-E112-7317-71F5-5FB7E309C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98" y="1744316"/>
            <a:ext cx="8963025" cy="5048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Descriptive Statistics / Results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E9DFD62-6B38-BAC4-6B43-D163CB502D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9395654"/>
              </p:ext>
            </p:extLst>
          </p:nvPr>
        </p:nvGraphicFramePr>
        <p:xfrm>
          <a:off x="628650" y="2024488"/>
          <a:ext cx="7886701" cy="4161081"/>
        </p:xfrm>
        <a:graphic>
          <a:graphicData uri="http://schemas.openxmlformats.org/drawingml/2006/table">
            <a:tbl>
              <a:tblPr/>
              <a:tblGrid>
                <a:gridCol w="2930339">
                  <a:extLst>
                    <a:ext uri="{9D8B030D-6E8A-4147-A177-3AD203B41FA5}">
                      <a16:colId xmlns:a16="http://schemas.microsoft.com/office/drawing/2014/main" val="1902193862"/>
                    </a:ext>
                  </a:extLst>
                </a:gridCol>
                <a:gridCol w="2470336">
                  <a:extLst>
                    <a:ext uri="{9D8B030D-6E8A-4147-A177-3AD203B41FA5}">
                      <a16:colId xmlns:a16="http://schemas.microsoft.com/office/drawing/2014/main" val="2157665611"/>
                    </a:ext>
                  </a:extLst>
                </a:gridCol>
                <a:gridCol w="2486026">
                  <a:extLst>
                    <a:ext uri="{9D8B030D-6E8A-4147-A177-3AD203B41FA5}">
                      <a16:colId xmlns:a16="http://schemas.microsoft.com/office/drawing/2014/main" val="2694704363"/>
                    </a:ext>
                  </a:extLst>
                </a:gridCol>
              </a:tblGrid>
              <a:tr h="722817">
                <a:tc>
                  <a:txBody>
                    <a:bodyPr/>
                    <a:lstStyle/>
                    <a:p>
                      <a:pPr algn="ctr"/>
                      <a:endParaRPr lang="en-US" sz="1900" b="0" dirty="0">
                        <a:solidFill>
                          <a:srgbClr val="BEBEBE"/>
                        </a:solidFill>
                        <a:effectLst/>
                      </a:endParaRP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 err="1">
                          <a:solidFill>
                            <a:srgbClr val="BEBEBE"/>
                          </a:solidFill>
                          <a:effectLst/>
                        </a:rPr>
                        <a:t>laliga_away_goals</a:t>
                      </a:r>
                      <a:endParaRPr lang="en-US" sz="1900" b="0" dirty="0">
                        <a:solidFill>
                          <a:srgbClr val="BEBEBE"/>
                        </a:solidFill>
                        <a:effectLst/>
                      </a:endParaRP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0" dirty="0" err="1">
                          <a:solidFill>
                            <a:srgbClr val="BEBEBE"/>
                          </a:solidFill>
                          <a:effectLst/>
                        </a:rPr>
                        <a:t>rest_away_goals</a:t>
                      </a:r>
                      <a:endParaRPr lang="en-US" sz="1900" b="0" dirty="0">
                        <a:solidFill>
                          <a:srgbClr val="BEBEBE"/>
                        </a:solidFill>
                        <a:effectLst/>
                      </a:endParaRPr>
                    </a:p>
                  </a:txBody>
                  <a:tcPr marL="97678" marR="97678" marT="48839" marB="48839" anchor="ctr">
                    <a:lnL>
                      <a:noFill/>
                    </a:lnL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41389"/>
                  </a:ext>
                </a:extLst>
              </a:tr>
              <a:tr h="429783">
                <a:tc>
                  <a:txBody>
                    <a:bodyPr/>
                    <a:lstStyle/>
                    <a:p>
                      <a:pPr algn="r"/>
                      <a:r>
                        <a:rPr lang="en-US" sz="1900" b="0">
                          <a:solidFill>
                            <a:srgbClr val="BEBEBE"/>
                          </a:solidFill>
                          <a:effectLst/>
                        </a:rPr>
                        <a:t>formation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900" b="0">
                        <a:effectLst/>
                      </a:endParaRP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900" b="0">
                        <a:effectLst/>
                      </a:endParaRP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604282"/>
                  </a:ext>
                </a:extLst>
              </a:tr>
              <a:tr h="429783">
                <a:tc>
                  <a:txBody>
                    <a:bodyPr/>
                    <a:lstStyle/>
                    <a:p>
                      <a:pPr fontAlgn="ctr"/>
                      <a:r>
                        <a:rPr lang="en-US" sz="1900" b="0">
                          <a:solidFill>
                            <a:srgbClr val="BEBEBE"/>
                          </a:solidFill>
                          <a:effectLst/>
                        </a:rPr>
                        <a:t>(4-4-2)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rgbClr val="BEBEBE"/>
                          </a:solidFill>
                          <a:effectLst/>
                        </a:rPr>
                        <a:t>0.986355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rgbClr val="BEBEBE"/>
                          </a:solidFill>
                          <a:effectLst/>
                        </a:rPr>
                        <a:t>1.275974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190069"/>
                  </a:ext>
                </a:extLst>
              </a:tr>
              <a:tr h="429783">
                <a:tc>
                  <a:txBody>
                    <a:bodyPr/>
                    <a:lstStyle/>
                    <a:p>
                      <a:pPr fontAlgn="ctr"/>
                      <a:r>
                        <a:rPr lang="en-US" sz="1900" b="0">
                          <a:solidFill>
                            <a:srgbClr val="BEBEBE"/>
                          </a:solidFill>
                          <a:effectLst/>
                        </a:rPr>
                        <a:t>(4-2-3-1)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rgbClr val="BEBEBE"/>
                          </a:solidFill>
                          <a:effectLst/>
                        </a:rPr>
                        <a:t>1.035129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rgbClr val="BEBEBE"/>
                          </a:solidFill>
                          <a:effectLst/>
                        </a:rPr>
                        <a:t>1.399890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333759"/>
                  </a:ext>
                </a:extLst>
              </a:tr>
              <a:tr h="429783">
                <a:tc>
                  <a:txBody>
                    <a:bodyPr/>
                    <a:lstStyle/>
                    <a:p>
                      <a:pPr fontAlgn="ctr"/>
                      <a:r>
                        <a:rPr lang="en-US" sz="1900" b="0">
                          <a:solidFill>
                            <a:srgbClr val="BEBEBE"/>
                          </a:solidFill>
                          <a:effectLst/>
                        </a:rPr>
                        <a:t>(4-3-3)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rgbClr val="BEBEBE"/>
                          </a:solidFill>
                          <a:effectLst/>
                        </a:rPr>
                        <a:t>1.400000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rgbClr val="BEBEBE"/>
                          </a:solidFill>
                          <a:effectLst/>
                        </a:rPr>
                        <a:t>1.427481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772839"/>
                  </a:ext>
                </a:extLst>
              </a:tr>
              <a:tr h="429783">
                <a:tc>
                  <a:txBody>
                    <a:bodyPr/>
                    <a:lstStyle/>
                    <a:p>
                      <a:pPr fontAlgn="ctr"/>
                      <a:r>
                        <a:rPr lang="en-US" sz="1900" b="0">
                          <a:solidFill>
                            <a:srgbClr val="BEBEBE"/>
                          </a:solidFill>
                          <a:effectLst/>
                        </a:rPr>
                        <a:t>(5-3-2)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rgbClr val="BEBEBE"/>
                          </a:solidFill>
                          <a:effectLst/>
                        </a:rPr>
                        <a:t>1.007407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rgbClr val="BEBEBE"/>
                          </a:solidFill>
                          <a:effectLst/>
                        </a:rPr>
                        <a:t>0.000000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20432"/>
                  </a:ext>
                </a:extLst>
              </a:tr>
              <a:tr h="429783">
                <a:tc>
                  <a:txBody>
                    <a:bodyPr/>
                    <a:lstStyle/>
                    <a:p>
                      <a:pPr fontAlgn="ctr"/>
                      <a:r>
                        <a:rPr lang="en-US" sz="1900" b="0">
                          <a:solidFill>
                            <a:srgbClr val="BEBEBE"/>
                          </a:solidFill>
                          <a:effectLst/>
                        </a:rPr>
                        <a:t>(4-1-4-1)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rgbClr val="BEBEBE"/>
                          </a:solidFill>
                          <a:effectLst/>
                        </a:rPr>
                        <a:t>1.201493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rgbClr val="BEBEBE"/>
                          </a:solidFill>
                          <a:effectLst/>
                        </a:rPr>
                        <a:t>0.000000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772927"/>
                  </a:ext>
                </a:extLst>
              </a:tr>
              <a:tr h="429783">
                <a:tc>
                  <a:txBody>
                    <a:bodyPr/>
                    <a:lstStyle/>
                    <a:p>
                      <a:pPr fontAlgn="ctr"/>
                      <a:r>
                        <a:rPr lang="en-US" sz="1900" b="0">
                          <a:solidFill>
                            <a:srgbClr val="BEBEBE"/>
                          </a:solidFill>
                          <a:effectLst/>
                        </a:rPr>
                        <a:t>(3-4-3)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rgbClr val="BEBEBE"/>
                          </a:solidFill>
                          <a:effectLst/>
                        </a:rPr>
                        <a:t>0.000000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rgbClr val="BEBEBE"/>
                          </a:solidFill>
                          <a:effectLst/>
                        </a:rPr>
                        <a:t>1.301439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766045"/>
                  </a:ext>
                </a:extLst>
              </a:tr>
              <a:tr h="429783">
                <a:tc>
                  <a:txBody>
                    <a:bodyPr/>
                    <a:lstStyle/>
                    <a:p>
                      <a:pPr fontAlgn="ctr"/>
                      <a:r>
                        <a:rPr lang="en-US" sz="1900" b="0">
                          <a:solidFill>
                            <a:srgbClr val="BEBEBE"/>
                          </a:solidFill>
                          <a:effectLst/>
                        </a:rPr>
                        <a:t>(3-5-2)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>
                          <a:solidFill>
                            <a:srgbClr val="BEBEBE"/>
                          </a:solidFill>
                          <a:effectLst/>
                        </a:rPr>
                        <a:t>0.000000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rgbClr val="BEBEBE"/>
                          </a:solidFill>
                          <a:effectLst/>
                        </a:rPr>
                        <a:t>1.233668</a:t>
                      </a:r>
                    </a:p>
                  </a:txBody>
                  <a:tcPr marL="97678" marR="97678" marT="48839" marB="488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373524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0C11783D-3622-A668-3A3D-D262FE3AB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35" y="1744316"/>
            <a:ext cx="7448551" cy="48576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316" y="201253"/>
            <a:ext cx="7879842" cy="660500"/>
          </a:xfrm>
        </p:spPr>
        <p:txBody>
          <a:bodyPr anchor="b">
            <a:normAutofit/>
          </a:bodyPr>
          <a:lstStyle/>
          <a:p>
            <a:r>
              <a:rPr lang="en-US" sz="3600" dirty="0"/>
              <a:t>La-Liga Goal Difference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9EFBAED6-55BA-AC1A-8608-16B2407A47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6237748"/>
              </p:ext>
            </p:extLst>
          </p:nvPr>
        </p:nvGraphicFramePr>
        <p:xfrm>
          <a:off x="482599" y="1874635"/>
          <a:ext cx="7661275" cy="4037194"/>
        </p:xfrm>
        <a:graphic>
          <a:graphicData uri="http://schemas.openxmlformats.org/drawingml/2006/table">
            <a:tbl>
              <a:tblPr>
                <a:solidFill>
                  <a:srgbClr val="404040"/>
                </a:solidFill>
              </a:tblPr>
              <a:tblGrid>
                <a:gridCol w="1635444">
                  <a:extLst>
                    <a:ext uri="{9D8B030D-6E8A-4147-A177-3AD203B41FA5}">
                      <a16:colId xmlns:a16="http://schemas.microsoft.com/office/drawing/2014/main" val="723909834"/>
                    </a:ext>
                  </a:extLst>
                </a:gridCol>
                <a:gridCol w="2345076">
                  <a:extLst>
                    <a:ext uri="{9D8B030D-6E8A-4147-A177-3AD203B41FA5}">
                      <a16:colId xmlns:a16="http://schemas.microsoft.com/office/drawing/2014/main" val="1956324813"/>
                    </a:ext>
                  </a:extLst>
                </a:gridCol>
                <a:gridCol w="2331503">
                  <a:extLst>
                    <a:ext uri="{9D8B030D-6E8A-4147-A177-3AD203B41FA5}">
                      <a16:colId xmlns:a16="http://schemas.microsoft.com/office/drawing/2014/main" val="3936605156"/>
                    </a:ext>
                  </a:extLst>
                </a:gridCol>
                <a:gridCol w="1349252">
                  <a:extLst>
                    <a:ext uri="{9D8B030D-6E8A-4147-A177-3AD203B41FA5}">
                      <a16:colId xmlns:a16="http://schemas.microsoft.com/office/drawing/2014/main" val="3381665619"/>
                    </a:ext>
                  </a:extLst>
                </a:gridCol>
              </a:tblGrid>
              <a:tr h="331838">
                <a:tc>
                  <a:txBody>
                    <a:bodyPr/>
                    <a:lstStyle/>
                    <a:p>
                      <a:pPr algn="r"/>
                      <a:endParaRPr lang="en-US" sz="20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 cap="none" spc="0" dirty="0" err="1">
                          <a:solidFill>
                            <a:schemeClr val="bg1"/>
                          </a:solidFill>
                          <a:effectLst/>
                        </a:rPr>
                        <a:t>laliga_home_goals</a:t>
                      </a:r>
                      <a:endParaRPr lang="en-US" sz="20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cap="none" spc="0" dirty="0" err="1">
                          <a:solidFill>
                            <a:schemeClr val="bg1"/>
                          </a:solidFill>
                          <a:effectLst/>
                        </a:rPr>
                        <a:t>laliga_away_goals</a:t>
                      </a:r>
                      <a:endParaRPr lang="en-US" sz="20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bg1"/>
                          </a:solidFill>
                        </a:rPr>
                        <a:t>Diff</a:t>
                      </a:r>
                    </a:p>
                  </a:txBody>
                  <a:tcPr marL="149860" marR="149860" marT="149860" marB="7493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889296"/>
                  </a:ext>
                </a:extLst>
              </a:tr>
              <a:tr h="388505">
                <a:tc>
                  <a:txBody>
                    <a:bodyPr/>
                    <a:lstStyle/>
                    <a:p>
                      <a:pPr algn="r"/>
                      <a:r>
                        <a:rPr lang="en-US" sz="2000" b="0" cap="none" spc="0" dirty="0">
                          <a:solidFill>
                            <a:schemeClr val="bg1"/>
                          </a:solidFill>
                          <a:effectLst/>
                        </a:rPr>
                        <a:t>formation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b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787658"/>
                  </a:ext>
                </a:extLst>
              </a:tr>
              <a:tr h="612106">
                <a:tc>
                  <a:txBody>
                    <a:bodyPr/>
                    <a:lstStyle/>
                    <a:p>
                      <a:pPr fontAlgn="ctr"/>
                      <a:r>
                        <a:rPr lang="en-US" sz="2000" b="0" cap="none" spc="0">
                          <a:solidFill>
                            <a:schemeClr val="bg1"/>
                          </a:solidFill>
                          <a:effectLst/>
                        </a:rPr>
                        <a:t>(4-4-2)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bg1"/>
                          </a:solidFill>
                          <a:effectLst/>
                        </a:rPr>
                        <a:t>1.346290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bg1"/>
                          </a:solidFill>
                          <a:effectLst/>
                        </a:rPr>
                        <a:t>0.986355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bg1"/>
                          </a:solidFill>
                          <a:effectLst/>
                        </a:rPr>
                        <a:t>-0.359935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299891"/>
                  </a:ext>
                </a:extLst>
              </a:tr>
              <a:tr h="612106">
                <a:tc>
                  <a:txBody>
                    <a:bodyPr/>
                    <a:lstStyle/>
                    <a:p>
                      <a:pPr fontAlgn="ctr"/>
                      <a:r>
                        <a:rPr lang="en-US" sz="2000" b="0" cap="none" spc="0">
                          <a:solidFill>
                            <a:schemeClr val="bg1"/>
                          </a:solidFill>
                          <a:effectLst/>
                        </a:rPr>
                        <a:t>(4-2-3-1)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bg1"/>
                          </a:solidFill>
                          <a:effectLst/>
                        </a:rPr>
                        <a:t>1.401914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bg1"/>
                          </a:solidFill>
                          <a:effectLst/>
                        </a:rPr>
                        <a:t>1.035129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bg1"/>
                          </a:solidFill>
                          <a:effectLst/>
                        </a:rPr>
                        <a:t>-0.366785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83584"/>
                  </a:ext>
                </a:extLst>
              </a:tr>
              <a:tr h="612106">
                <a:tc>
                  <a:txBody>
                    <a:bodyPr/>
                    <a:lstStyle/>
                    <a:p>
                      <a:pPr fontAlgn="ctr"/>
                      <a:r>
                        <a:rPr lang="en-US" sz="2000" b="0" cap="none" spc="0">
                          <a:solidFill>
                            <a:schemeClr val="bg1"/>
                          </a:solidFill>
                          <a:effectLst/>
                        </a:rPr>
                        <a:t>(4-3-3)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bg1"/>
                          </a:solidFill>
                          <a:effectLst/>
                        </a:rPr>
                        <a:t>1.710227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bg1"/>
                          </a:solidFill>
                          <a:effectLst/>
                        </a:rPr>
                        <a:t>1.400000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bg1"/>
                          </a:solidFill>
                          <a:effectLst/>
                        </a:rPr>
                        <a:t>-0.310227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382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000" b="0" cap="none" spc="0">
                          <a:solidFill>
                            <a:schemeClr val="bg1"/>
                          </a:solidFill>
                          <a:effectLst/>
                        </a:rPr>
                        <a:t>(4-1-4-1)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bg1"/>
                          </a:solidFill>
                          <a:effectLst/>
                        </a:rPr>
                        <a:t>1.389831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bg1"/>
                          </a:solidFill>
                          <a:effectLst/>
                        </a:rPr>
                        <a:t>1.201493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bg1"/>
                          </a:solidFill>
                          <a:effectLst/>
                        </a:rPr>
                        <a:t>-0.188338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015773"/>
                  </a:ext>
                </a:extLst>
              </a:tr>
              <a:tr h="612106">
                <a:tc>
                  <a:txBody>
                    <a:bodyPr/>
                    <a:lstStyle/>
                    <a:p>
                      <a:pPr fontAlgn="ctr"/>
                      <a:r>
                        <a:rPr lang="en-US" sz="2000" b="0" cap="none" spc="0">
                          <a:solidFill>
                            <a:schemeClr val="bg1"/>
                          </a:solidFill>
                          <a:effectLst/>
                        </a:rPr>
                        <a:t>(5-3-2)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bg1"/>
                          </a:solidFill>
                          <a:effectLst/>
                        </a:rPr>
                        <a:t>1.362745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>
                          <a:solidFill>
                            <a:schemeClr val="bg1"/>
                          </a:solidFill>
                          <a:effectLst/>
                        </a:rPr>
                        <a:t>1.007407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none" spc="0" dirty="0">
                          <a:solidFill>
                            <a:schemeClr val="bg1"/>
                          </a:solidFill>
                          <a:effectLst/>
                        </a:rPr>
                        <a:t>-0.355338</a:t>
                      </a:r>
                    </a:p>
                  </a:txBody>
                  <a:tcPr marL="149860" marR="149860" marT="149860" marB="749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89830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E1EC0031-D342-5182-12AF-BCC68100A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14896"/>
            <a:ext cx="7099783" cy="52870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US" sz="3600" dirty="0"/>
              <a:t>ROW Goal Difference</a:t>
            </a:r>
            <a:endParaRPr sz="3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DD792B-053C-5349-3755-C1659471A7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4687346"/>
              </p:ext>
            </p:extLst>
          </p:nvPr>
        </p:nvGraphicFramePr>
        <p:xfrm>
          <a:off x="628649" y="2288190"/>
          <a:ext cx="7838694" cy="3633677"/>
        </p:xfrm>
        <a:graphic>
          <a:graphicData uri="http://schemas.openxmlformats.org/drawingml/2006/table">
            <a:tbl>
              <a:tblPr/>
              <a:tblGrid>
                <a:gridCol w="1601750">
                  <a:extLst>
                    <a:ext uri="{9D8B030D-6E8A-4147-A177-3AD203B41FA5}">
                      <a16:colId xmlns:a16="http://schemas.microsoft.com/office/drawing/2014/main" val="4273351285"/>
                    </a:ext>
                  </a:extLst>
                </a:gridCol>
                <a:gridCol w="2427498">
                  <a:extLst>
                    <a:ext uri="{9D8B030D-6E8A-4147-A177-3AD203B41FA5}">
                      <a16:colId xmlns:a16="http://schemas.microsoft.com/office/drawing/2014/main" val="565688558"/>
                    </a:ext>
                  </a:extLst>
                </a:gridCol>
                <a:gridCol w="2386773">
                  <a:extLst>
                    <a:ext uri="{9D8B030D-6E8A-4147-A177-3AD203B41FA5}">
                      <a16:colId xmlns:a16="http://schemas.microsoft.com/office/drawing/2014/main" val="528312225"/>
                    </a:ext>
                  </a:extLst>
                </a:gridCol>
                <a:gridCol w="1422673">
                  <a:extLst>
                    <a:ext uri="{9D8B030D-6E8A-4147-A177-3AD203B41FA5}">
                      <a16:colId xmlns:a16="http://schemas.microsoft.com/office/drawing/2014/main" val="3169725114"/>
                    </a:ext>
                  </a:extLst>
                </a:gridCol>
              </a:tblGrid>
              <a:tr h="79553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100" b="0" i="0" u="none" strike="noStrike" dirty="0">
                        <a:solidFill>
                          <a:srgbClr val="BEBEB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100" b="0" i="0" u="none" strike="noStrike" dirty="0" err="1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rest_home_goals</a:t>
                      </a:r>
                      <a:endParaRPr lang="en-US" sz="2100" b="0" i="0" u="none" strike="noStrike" dirty="0">
                        <a:solidFill>
                          <a:srgbClr val="BEBEB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100" b="0" i="0" u="none" strike="noStrike" dirty="0" err="1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rest_away_goals</a:t>
                      </a:r>
                      <a:endParaRPr lang="en-US" sz="2100" b="0" i="0" u="none" strike="noStrike" dirty="0">
                        <a:solidFill>
                          <a:srgbClr val="BEBEBE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100" b="0" i="0" u="none" strike="noStrike" dirty="0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Diff</a:t>
                      </a:r>
                      <a:endParaRPr lang="en-US" sz="2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05" marR="107505" marT="53753" marB="5375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922394"/>
                  </a:ext>
                </a:extLst>
              </a:tr>
              <a:tr h="47302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formation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2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864662"/>
                  </a:ext>
                </a:extLst>
              </a:tr>
              <a:tr h="473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(4-2-3-1)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1.679058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1.399890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 dirty="0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-0.279167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324817"/>
                  </a:ext>
                </a:extLst>
              </a:tr>
              <a:tr h="473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(4-3-3)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1.718802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1.427481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-0.291321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512395"/>
                  </a:ext>
                </a:extLst>
              </a:tr>
              <a:tr h="473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(3-4-3)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1.553229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1.301439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-0.251789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23382"/>
                  </a:ext>
                </a:extLst>
              </a:tr>
              <a:tr h="473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(3-5-2)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1.457847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1.233668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-0.224179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406737"/>
                  </a:ext>
                </a:extLst>
              </a:tr>
              <a:tr h="473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(4-4-2)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1.418502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1.275974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i="0" u="none" strike="noStrike" dirty="0">
                          <a:solidFill>
                            <a:srgbClr val="BEBEBE"/>
                          </a:solidFill>
                          <a:effectLst/>
                          <a:latin typeface="Arial" panose="020B0604020202020204" pitchFamily="34" charset="0"/>
                        </a:rPr>
                        <a:t>-0.142528</a:t>
                      </a:r>
                    </a:p>
                  </a:txBody>
                  <a:tcPr marL="107505" marR="107505" marT="53753" marB="537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49969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8B55EC6-60DB-F365-06C5-7440F1D76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433" y="1726470"/>
            <a:ext cx="6715125" cy="5048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3625" y="1647825"/>
            <a:ext cx="4476750" cy="1143000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latin typeface="Lucida Handwriting" panose="03010101010101010101" pitchFamily="66" charset="0"/>
              </a:rPr>
              <a:t>THOUGHTS?</a:t>
            </a:r>
            <a:endParaRPr sz="5400" dirty="0"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yellow post it note with blue text&#10;&#10;AI-generated content may be incorrect.">
            <a:extLst>
              <a:ext uri="{FF2B5EF4-FFF2-40B4-BE49-F238E27FC236}">
                <a16:creationId xmlns:a16="http://schemas.microsoft.com/office/drawing/2014/main" id="{5C828E19-9D01-4880-DBC2-0745CE6C51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883960" y="643466"/>
            <a:ext cx="537607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70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271</Words>
  <Application>Microsoft Office PowerPoint</Application>
  <PresentationFormat>On-screen Show (4:3)</PresentationFormat>
  <Paragraphs>118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Lucida Handwriting</vt:lpstr>
      <vt:lpstr>Office Theme</vt:lpstr>
      <vt:lpstr>EDA - Top 5 European Leagues</vt:lpstr>
      <vt:lpstr>PowerPoint Presentation</vt:lpstr>
      <vt:lpstr>xG</vt:lpstr>
      <vt:lpstr>La Liga and the Rest of the World</vt:lpstr>
      <vt:lpstr>Possession Diff</vt:lpstr>
      <vt:lpstr>Shots</vt:lpstr>
      <vt:lpstr>Home Goals per Game ~ Formation</vt:lpstr>
      <vt:lpstr>Descriptive Statistics / Results</vt:lpstr>
      <vt:lpstr>La-Liga Goal Difference</vt:lpstr>
      <vt:lpstr>ROW Goal Difference</vt:lpstr>
      <vt:lpstr>THOUGHTS?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 Tasbas</cp:lastModifiedBy>
  <cp:revision>4</cp:revision>
  <dcterms:created xsi:type="dcterms:W3CDTF">2013-01-27T09:14:16Z</dcterms:created>
  <dcterms:modified xsi:type="dcterms:W3CDTF">2025-06-02T17:00:12Z</dcterms:modified>
  <cp:category/>
</cp:coreProperties>
</file>